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28f877d4-59f0-4851-a0a0-c24f9f2ff68f.fntdata" /><ns0:Relationship Id="rIdFont17" Type="http://schemas.openxmlformats.org/officeDocument/2006/relationships/font" Target="fonts/c775858a-0b92-485f-aee7-3c51dcfed97c.fntdata" /><ns0:Relationship Id="rIdFont18" Type="http://schemas.openxmlformats.org/officeDocument/2006/relationships/font" Target="fonts/296f28cc-4932-4ede-b673-2c681b2c0dac.fntdata" /><ns0:Relationship Id="rIdFont19" Type="http://schemas.openxmlformats.org/officeDocument/2006/relationships/font" Target="fonts/28f9edfa-2716-4baa-88e1-6c3c409350f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705475"/>
            <a:ext cx="109728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7054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10675" y="5905500"/>
            <a:ext cx="2371725" cy="3429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638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14512"/>
            <a:ext cx="3810000" cy="285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925" y="1824037"/>
            <a:ext cx="3790950" cy="2838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58425" y="609600"/>
            <a:ext cx="1654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Operational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1175" y="5981700"/>
            <a:ext cx="2085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Masood Ahmed Mohiuddin ©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609600"/>
            <a:ext cx="32801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CYBERLAB - PERSONAL HOMELAB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140297"/>
            <a:ext cx="8382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Inter"/>
              </a:rPr>
              <a:t>BASELINE COMPLIANCE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445097"/>
            <a:ext cx="714089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Baseline Assessment &amp; Risk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774727"/>
            <a:ext cx="6000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Automated Wazuh SCA scan analysis, CIS control evaluation, and actionable remediation roadmap for Linux infrastructure.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910262"/>
            <a:ext cx="20359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TARGET 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53137"/>
            <a:ext cx="2035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mint01 (Ubuntu Node)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3175" y="5910262"/>
            <a:ext cx="2750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AUDIT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3175" y="6053137"/>
            <a:ext cx="2750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Wazuh SCA / CIS 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150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38275"/>
            <a:ext cx="3454449" cy="4048125"/>
          </a:xfrm>
          <a:prstGeom prst="roundRect">
            <a:avLst>
              <a:gd name="adj" fmla="val 4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1438275"/>
            <a:ext cx="3454449" cy="4048125"/>
          </a:xfrm>
          <a:prstGeom prst="roundRect">
            <a:avLst>
              <a:gd name="adj" fmla="val 4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1438275"/>
            <a:ext cx="3454449" cy="4048125"/>
          </a:xfrm>
          <a:prstGeom prst="roundRect">
            <a:avLst>
              <a:gd name="adj" fmla="val 4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3925" y="4819650"/>
            <a:ext cx="2825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3174" y="4819650"/>
            <a:ext cx="2825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42424" y="4819650"/>
            <a:ext cx="2825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9055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752600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74" y="1752600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424" y="1752600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1866900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7474" y="1866900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6724" y="1866900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46672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10477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Page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8350" y="5938837"/>
            <a:ext cx="2071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Inter"/>
              </a:rPr>
              <a:t>SLA Window: 14–30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81050"/>
            <a:ext cx="6000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Audit Scope &amp; Key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972050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7 Active Policies 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3174" y="4972050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2 High / 2 Medium 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2424" y="4972050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Remediation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" y="5924550"/>
            <a:ext cx="9191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Core Security Objective: Harden system controls to eliminate credential brute-force and logging gaps.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2324100"/>
            <a:ext cx="370886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Evaluation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2628900"/>
            <a:ext cx="29210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Evaluated 23 system configurations on node mint01 against official CIS Benchmarks.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3174" y="2324100"/>
            <a:ext cx="370886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Identified Deficiencies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3174" y="2628900"/>
            <a:ext cx="29210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Uncovered 4 policy failures impacting logging, authentication, and service exposure.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424" y="2324100"/>
            <a:ext cx="370886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Baseline Posture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2424" y="2628900"/>
            <a:ext cx="29210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Current compliance score stands at 42.86%. Target baseline score exceeds 80%.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9862"/>
            <a:ext cx="342900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2025" y="4291012"/>
            <a:ext cx="27241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2025" y="4291012"/>
            <a:ext cx="1167556" cy="952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490787"/>
            <a:ext cx="3524250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8150" y="2490787"/>
            <a:ext cx="3524250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3976687"/>
            <a:ext cx="3524250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8150" y="3976687"/>
            <a:ext cx="3524250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5514975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Metrics &amp;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10477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Page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711338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Baseline Compliance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9693" y="3062287"/>
            <a:ext cx="1928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COMPLIANCE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053" y="3300412"/>
            <a:ext cx="37980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D97706"/>
                </a:solidFill>
                <a:latin typeface="Plus Jakarta Sans"/>
              </a:rPr>
              <a:t>42.86%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428" y="4538662"/>
            <a:ext cx="3131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3 Passed / 4 Failed (Evaluated Controls)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2728912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Total Evaluated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2928937"/>
            <a:ext cx="381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386137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Active CIS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275" y="2728912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Passed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275" y="2928937"/>
            <a:ext cx="381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6A34A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5" y="3386137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Validated compliant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4214812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High Severity Risks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4414837"/>
            <a:ext cx="381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C2626"/>
                </a:solidFill>
                <a:latin typeface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4872037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14-Day Mitigation 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6275" y="4214812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Medium Severity Risks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5" y="4414837"/>
            <a:ext cx="381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97706"/>
                </a:solidFill>
                <a:latin typeface="Inter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6275" y="4872037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30-Day Mitigation SLA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7012"/>
            <a:ext cx="2571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695575"/>
            <a:ext cx="25717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95575"/>
            <a:ext cx="25717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695575"/>
            <a:ext cx="25717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5825" y="4205287"/>
            <a:ext cx="20193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86175" y="4276725"/>
            <a:ext cx="20193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6525" y="4276725"/>
            <a:ext cx="20193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6875" y="4276725"/>
            <a:ext cx="20193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5825" y="4205287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86175" y="4276725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6525" y="4276725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6875" y="4276725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5825" y="3043237"/>
            <a:ext cx="971550" cy="219075"/>
          </a:xfrm>
          <a:prstGeom prst="roundRect">
            <a:avLst>
              <a:gd name="adj" fmla="val 2608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6175" y="2971800"/>
            <a:ext cx="995957" cy="361950"/>
          </a:xfrm>
          <a:prstGeom prst="roundRect">
            <a:avLst>
              <a:gd name="adj" fmla="val 15789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86525" y="2971800"/>
            <a:ext cx="927199" cy="361950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6875" y="2971800"/>
            <a:ext cx="927199" cy="361950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33400"/>
            <a:ext cx="52006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Vulnerability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10477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Page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81050"/>
            <a:ext cx="670083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Detailed Risk Register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376612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Missing PAM Lockout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3652837"/>
            <a:ext cx="2114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Brute-force exposure on local logins.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4329112"/>
            <a:ext cx="2524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SLA: 14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6175" y="3448050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Disabled Audit Daemon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6175" y="3724275"/>
            <a:ext cx="2114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Lack of security audit logging.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6175" y="4400550"/>
            <a:ext cx="2524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SLA: 14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3448050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Unbounded Passwords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5" y="3724275"/>
            <a:ext cx="2114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Password age exceeds 365 days.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6525" y="4400550"/>
            <a:ext cx="2524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SLA: 30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6875" y="3448050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Active Print Daemon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6875" y="3724275"/>
            <a:ext cx="2114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Unnecessary CUPS service running.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6875" y="4400550"/>
            <a:ext cx="2524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SLA: 30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075" y="3081337"/>
            <a:ext cx="876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Inter"/>
              </a:rPr>
              <a:t>RISK-MINT-01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6425" y="3071812"/>
            <a:ext cx="1314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Score: 16 (High)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1425" y="3009900"/>
            <a:ext cx="9007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Inter"/>
              </a:rPr>
              <a:t>RISK-MINT-02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2132" y="2990850"/>
            <a:ext cx="111859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Score: 16 (High)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1775" y="3009900"/>
            <a:ext cx="8319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Inter"/>
              </a:rPr>
              <a:t>RISK-MINT-03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3724" y="2990850"/>
            <a:ext cx="1187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Score: 9 (Medium)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2125" y="3009900"/>
            <a:ext cx="8319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Inter"/>
              </a:rPr>
              <a:t>RISK-MINT-04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4074" y="2990850"/>
            <a:ext cx="1187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Score: 6 (Medium)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52700"/>
            <a:ext cx="7391400" cy="2619375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43900" y="2814637"/>
            <a:ext cx="323850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43900" y="3938587"/>
            <a:ext cx="323850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7725" y="2790825"/>
          <a:ext cx="6515098" cy="21431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53170"/>
                <a:gridCol w="679549"/>
                <a:gridCol w="970657"/>
                <a:gridCol w="1013817"/>
                <a:gridCol w="808880"/>
                <a:gridCol w="1489025"/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Impact \ Likelihood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1 (Rare)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2 (Unlikely)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3 (Possible)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4 (Likely)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5 (Almost Certain)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5 (Critical)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16A34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DC2626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4 (High)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16A34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DC2626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DC2626"/>
                          </a:solidFill>
                          <a:latin typeface="Inter"/>
                        </a:rPr>
                        <a:t>16 (2)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3 (Medium)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16A34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9 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DC2626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DC2626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2 (Low)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16A34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16A34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6 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33400"/>
            <a:ext cx="5819775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Risk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58525" y="1047750"/>
            <a:ext cx="809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Page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751343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5x5 Impact vs Likelihood Heatmap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3925" y="3014662"/>
            <a:ext cx="36480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Inter"/>
              </a:rPr>
              <a:t>High Risk Quadrant (Score 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925" y="3262312"/>
            <a:ext cx="2933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Contains 2 items: PAM lockout failure &amp; auditd daemon disabled.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3925" y="4138612"/>
            <a:ext cx="36480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Inter"/>
              </a:rPr>
              <a:t>Medium Risk Quadrant (Scores 6–9)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3925" y="4386262"/>
            <a:ext cx="2933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Contains 2 items: Password age limits &amp; unneeded CUPS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438275"/>
          <a:ext cx="10972797" cy="24765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5285"/>
                <a:gridCol w="1574601"/>
                <a:gridCol w="1977776"/>
                <a:gridCol w="6085135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Risk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Score Range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Remediation SLA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Operational Action Required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91B1B"/>
                          </a:solidFill>
                          <a:latin typeface="Inter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91B1B"/>
                          </a:solidFill>
                          <a:latin typeface="Inter"/>
                        </a:rPr>
                        <a:t>20 – 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91B1B"/>
                          </a:solidFill>
                          <a:latin typeface="Inter"/>
                        </a:rPr>
                        <a:t>7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7F1D1D"/>
                          </a:solidFill>
                          <a:latin typeface="Inter"/>
                        </a:rPr>
                        <a:t>Immediate emergency mitigation &amp; escalation to CISO.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12 – 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14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91B1B"/>
                          </a:solidFill>
                          <a:latin typeface="Inter"/>
                        </a:rPr>
                        <a:t>Prioritized patch or configuration change within current sprint.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97706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97706"/>
                          </a:solidFill>
                          <a:latin typeface="Inter"/>
                        </a:rPr>
                        <a:t>6 – 11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97706"/>
                          </a:solidFill>
                          <a:latin typeface="Inter"/>
                        </a:rPr>
                        <a:t>30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2400E"/>
                          </a:solidFill>
                          <a:latin typeface="Inter"/>
                        </a:rPr>
                        <a:t>Remediation scheduled during monthly maintenance window.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1 –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60–90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4532D"/>
                          </a:solidFill>
                          <a:latin typeface="Inter"/>
                        </a:rPr>
                        <a:t>Risk accepted or remediated during routine system updates.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6105525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Governance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10477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Page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788848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Severity Legend &amp; SLA Action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14475"/>
            <a:ext cx="2600325" cy="481012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1514475"/>
            <a:ext cx="2600325" cy="481012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1514475"/>
            <a:ext cx="2600325" cy="481012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1514475"/>
            <a:ext cx="2600325" cy="481012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17907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76650" y="17907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67475" y="17907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58300" y="17907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60007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Action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8525" y="1047750"/>
            <a:ext cx="809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Page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7750968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Remediation Timeline &amp;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5905500"/>
            <a:ext cx="2559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DAYS 1–14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5905500"/>
            <a:ext cx="2559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DAYS 15–30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5905500"/>
            <a:ext cx="2559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DAY 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8300" y="5905500"/>
            <a:ext cx="2559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ONGOING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17907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DC2626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28600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High-Risk Patching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562225"/>
            <a:ext cx="21431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Enable auditd service &amp; configure PAM pam_tally2 lockouts.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3775" y="17907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D97706"/>
                </a:solidFill>
                <a:latin typeface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228600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Medium-Risk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650" y="2562225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Disable CUPS daemon &amp; adjust PASS_MAX_DAYS in login.defs.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600" y="17907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16A34A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228600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Automated Rescan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2562225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Execute Wazuh SCA agent scan to confirm 71%+ score.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5425" y="17907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300" y="228600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SOP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8300" y="2562225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Publish Linux hardening SOP to SharePoint team portal.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90887" y="4686300"/>
            <a:ext cx="2733675" cy="4381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3162" y="4686300"/>
            <a:ext cx="2647950" cy="4381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33550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1943100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8757" y="2762250"/>
            <a:ext cx="349448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Inter"/>
              </a:rPr>
              <a:t>CYBERLAB OPERATIONAL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83343" y="3038475"/>
            <a:ext cx="123586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Continuous Compliance &amp; Exchange Mindset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3771900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Transforming technical baseline findings into actionable governance, operational automation, and team knowledge sharing.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5878" y="4800600"/>
            <a:ext cx="288369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Inter"/>
              </a:rPr>
              <a:t>Wazuh SCA Automated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8868" y="4800600"/>
            <a:ext cx="277653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Inter"/>
              </a:rPr>
              <a:t>M335 &amp; SharePoint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8739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https://cdn.shopify.com/s/files/1/0736/7566/9719/files/enterprise-ai-infrastructure-data-center-wifi7-local-ai-2026.jpg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network-switch.com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